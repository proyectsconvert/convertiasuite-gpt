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11E23"/>
            </a:gs>
            <a:gs pos="100000">
              <a:srgbClr val="10473F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7315200" y="2286000"/>
            <a:ext cx="6858000" cy="6858000"/>
          </a:xfrm>
          <a:prstGeom prst="ellipse">
            <a:avLst/>
          </a:prstGeom>
          <a:solidFill>
            <a:srgbClr val="8F8C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828800" y="1371600"/>
            <a:ext cx="5943600" cy="5943600"/>
          </a:xfrm>
          <a:prstGeom prst="ellipse">
            <a:avLst/>
          </a:prstGeom>
          <a:solidFill>
            <a:srgbClr val="1AEB9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 i="1">
                <a:solidFill>
                  <a:srgbClr val="718096"/>
                </a:solidFill>
                <a:latin typeface="Georgia"/>
              </a:defRPr>
            </a:pPr>
            <a:r>
              <a:t>Straight to Growth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530352"/>
            <a:ext cx="6858000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vertia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365760"/>
            <a:ext cx="1499937" cy="320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4600" b="1">
                <a:solidFill>
                  <a:srgbClr val="FFFFFF"/>
                </a:solidFill>
                <a:latin typeface="Arial"/>
              </a:defRPr>
            </a:pPr>
            <a:r>
              <a:t>Reporte Trimestral de</a:t>
            </a:r>
          </a:p>
          <a:p>
            <a:pPr>
              <a:defRPr sz="4600" b="1">
                <a:solidFill>
                  <a:srgbClr val="718096"/>
                </a:solidFill>
                <a:latin typeface="Arial"/>
              </a:defRPr>
            </a:pPr>
            <a:r>
              <a:t>Convertia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26480"/>
            <a:ext cx="10360152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-1828800" y="3200400"/>
            <a:ext cx="5029200" cy="5029200"/>
          </a:xfrm>
          <a:prstGeom prst="ellipse">
            <a:avLst/>
          </a:prstGeom>
          <a:solidFill>
            <a:srgbClr val="1AEB9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011E23"/>
                </a:solidFill>
                <a:latin typeface="Arial"/>
              </a:defRPr>
            </a:pPr>
            <a:r>
              <a:t>Contenido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651760"/>
            <a:ext cx="91440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11E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2000" b="1">
                <a:solidFill>
                  <a:srgbClr val="011E23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371600"/>
            <a:ext cx="9144" cy="4114800"/>
          </a:xfrm>
          <a:prstGeom prst="rect">
            <a:avLst/>
          </a:prstGeom>
          <a:solidFill>
            <a:srgbClr val="D9D9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645920"/>
            <a:ext cx="62179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400" b="1">
                <a:solidFill>
                  <a:srgbClr val="011E23"/>
                </a:solidFill>
                <a:latin typeface="Arial"/>
              </a:defRPr>
            </a:pPr>
            <a:r>
              <a:t>01. Introducción General</a:t>
            </a:r>
          </a:p>
          <a:p>
            <a:pPr>
              <a:spcAft>
                <a:spcPts val="300"/>
              </a:spcAft>
              <a:defRPr sz="1200">
                <a:solidFill>
                  <a:srgbClr val="111111"/>
                </a:solidFill>
                <a:latin typeface="Arial"/>
              </a:defRPr>
            </a:pPr>
            <a:r>
              <a:t>    1.  Resultados Detallados de Conversión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11E23"/>
            </a:gs>
            <a:gs pos="100000">
              <a:srgbClr val="10473F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7616952" y="1828800"/>
            <a:ext cx="5943600" cy="5943600"/>
          </a:xfrm>
          <a:prstGeom prst="ellipse">
            <a:avLst/>
          </a:prstGeom>
          <a:solidFill>
            <a:srgbClr val="1AEB9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 i="1">
                <a:solidFill>
                  <a:srgbClr val="718096"/>
                </a:solidFill>
                <a:latin typeface="Georgia"/>
              </a:defRPr>
            </a:pPr>
            <a:r>
              <a:t>Straight to 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530352"/>
            <a:ext cx="6858000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nvertia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365760"/>
            <a:ext cx="1499937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2194560"/>
            <a:ext cx="10360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800" b="1" i="0">
                <a:solidFill>
                  <a:srgbClr val="1AEB9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1036015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Arial"/>
              </a:defRPr>
            </a:pPr>
            <a:r>
              <a:t>Introducción General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937760"/>
            <a:ext cx="1371600" cy="9144"/>
          </a:xfrm>
          <a:prstGeom prst="rect">
            <a:avLst/>
          </a:prstGeom>
          <a:solidFill>
            <a:srgbClr val="1AEB9F"/>
          </a:solidFill>
          <a:ln>
            <a:solidFill>
              <a:srgbClr val="1AE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-1828800" y="3200400"/>
            <a:ext cx="5029200" cy="5029200"/>
          </a:xfrm>
          <a:prstGeom prst="ellipse">
            <a:avLst/>
          </a:prstGeom>
          <a:solidFill>
            <a:srgbClr val="1AEB9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400" b="1" i="0">
                <a:solidFill>
                  <a:srgbClr val="011E23"/>
                </a:solidFill>
                <a:latin typeface="Arial"/>
              </a:defRPr>
            </a:pPr>
            <a:r>
              <a:t>Resultados Detallados de Conversión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45920"/>
            <a:ext cx="624535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A continuación se presentan los datos numéricos tabulados correspondientes a las métricas de conversión y ventas del canal principal durante el Q1.</a:t>
            </a:r>
          </a:p>
          <a:p>
            <a:pPr>
              <a:spcBef>
                <a:spcPts val="1400"/>
              </a:spcBef>
              <a:spcAft>
                <a:spcPts val="600"/>
              </a:spcAft>
              <a:defRPr sz="1600" b="1">
                <a:solidFill>
                  <a:srgbClr val="10473F"/>
                </a:solidFill>
                <a:latin typeface="Arial"/>
              </a:defRPr>
            </a:pPr>
            <a:r>
              <a:t>Recomendaciones Estratégicas</a:t>
            </a:r>
          </a:p>
          <a:p>
            <a:pPr>
              <a:spcAft>
                <a:spcPts val="8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Se sugiere mantener el enfoque en la optimización de costes por adquisición y expandir el canal de búsqueda pagada en mercados secundarios.</a:t>
            </a:r>
          </a:p>
          <a:p>
            <a:pPr>
              <a:spcAft>
                <a:spcPts val="6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•  Aumentar presupuesto en Google Ads un 15%</a:t>
            </a:r>
          </a:p>
          <a:p>
            <a:pPr>
              <a:spcAft>
                <a:spcPts val="6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•  Refinar audiencias de remarketing en Meta</a:t>
            </a:r>
          </a:p>
          <a:p>
            <a:pPr>
              <a:spcAft>
                <a:spcPts val="6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•  Desplegar el nuevo chatbot automatizado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0" y="3474720"/>
          <a:ext cx="624535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1338"/>
                <a:gridCol w="1561338"/>
                <a:gridCol w="1561338"/>
                <a:gridCol w="1561338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Enero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Febrero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Marzo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is_highlight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is_highlight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is_highlight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-1828800" y="3200400"/>
            <a:ext cx="5029200" cy="5029200"/>
          </a:xfrm>
          <a:prstGeom prst="ellipse">
            <a:avLst/>
          </a:prstGeom>
          <a:solidFill>
            <a:srgbClr val="1AEB9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600" b="1" i="0">
                <a:solidFill>
                  <a:srgbClr val="011E23"/>
                </a:solidFill>
                <a:latin typeface="Arial"/>
              </a:defRPr>
            </a:pPr>
            <a:r>
              <a:t>Métricas de rendimiento Q1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011680"/>
          <a:ext cx="103601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038"/>
                <a:gridCol w="2590038"/>
                <a:gridCol w="2590038"/>
                <a:gridCol w="2590038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Enero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Febrero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Marzo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is_highlight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is_highlight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is_highlight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11E23"/>
            </a:gs>
            <a:gs pos="100000">
              <a:srgbClr val="10473F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7315200" y="2286000"/>
            <a:ext cx="6858000" cy="6858000"/>
          </a:xfrm>
          <a:prstGeom prst="ellipse">
            <a:avLst/>
          </a:prstGeom>
          <a:solidFill>
            <a:srgbClr val="8F8C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828800" y="1371600"/>
            <a:ext cx="5943600" cy="5943600"/>
          </a:xfrm>
          <a:prstGeom prst="ellipse">
            <a:avLst/>
          </a:prstGeom>
          <a:solidFill>
            <a:srgbClr val="1AEB9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 i="1">
                <a:solidFill>
                  <a:srgbClr val="718096"/>
                </a:solidFill>
                <a:latin typeface="Georgia"/>
              </a:defRPr>
            </a:pPr>
            <a:r>
              <a:t>Straight to Growth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530352"/>
            <a:ext cx="6858000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vertia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365760"/>
            <a:ext cx="1499937" cy="320040"/>
          </a:xfrm>
          <a:prstGeom prst="rect">
            <a:avLst/>
          </a:prstGeom>
        </p:spPr>
      </p:pic>
      <p:pic>
        <p:nvPicPr>
          <p:cNvPr id="9" name="Picture 8" descr="convertia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2286000"/>
            <a:ext cx="3657600" cy="78041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14400" y="6035040"/>
            <a:ext cx="10360152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217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 i="1">
                <a:solidFill>
                  <a:srgbClr val="718096"/>
                </a:solidFill>
                <a:latin typeface="Arial"/>
              </a:defRPr>
            </a:pPr>
            <a:r>
              <a:t>Straight to 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2" y="6217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0" i="0">
                <a:solidFill>
                  <a:srgbClr val="718096"/>
                </a:solidFill>
                <a:latin typeface="Arial"/>
              </a:defRPr>
            </a:pPr>
            <a:r>
              <a:t>www.convertia.com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