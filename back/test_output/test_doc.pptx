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11E23"/>
            </a:gs>
            <a:gs pos="100000">
              <a:srgbClr val="1047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7315200" y="2286000"/>
            <a:ext cx="6858000" cy="6858000"/>
          </a:xfrm>
          <a:prstGeom prst="ellipse">
            <a:avLst/>
          </a:prstGeom>
          <a:solidFill>
            <a:srgbClr val="8F8C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1371600"/>
            <a:ext cx="5943600" cy="5943600"/>
          </a:xfrm>
          <a:prstGeom prst="ellipse">
            <a:avLst/>
          </a:prstGeom>
          <a:solidFill>
            <a:srgbClr val="1AEB9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1">
                <a:solidFill>
                  <a:srgbClr val="718096"/>
                </a:solidFill>
                <a:latin typeface="Georgia"/>
              </a:defRPr>
            </a:pPr>
            <a:r>
              <a:t>Straight to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530352"/>
            <a:ext cx="6858000" cy="9144"/>
          </a:xfrm>
          <a:prstGeom prst="rect">
            <a:avLst/>
          </a:prstGeom>
          <a:solidFill>
            <a:srgbClr val="718096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vertia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365760"/>
            <a:ext cx="319535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FFFFFF"/>
                </a:solidFill>
                <a:latin typeface="Arial"/>
              </a:defRPr>
            </a:pPr>
            <a:r>
              <a:t>Reporte Trimestral de</a:t>
            </a:r>
          </a:p>
          <a:p>
            <a:pPr>
              <a:defRPr sz="4600" b="1">
                <a:solidFill>
                  <a:srgbClr val="718096"/>
                </a:solidFill>
                <a:latin typeface="Arial"/>
              </a:defRPr>
            </a:pPr>
            <a:r>
              <a:t>Convertia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126480"/>
            <a:ext cx="10360152" cy="9144"/>
          </a:xfrm>
          <a:prstGeom prst="rect">
            <a:avLst/>
          </a:prstGeom>
          <a:solidFill>
            <a:srgbClr val="718096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-1828800" y="3200400"/>
            <a:ext cx="5029200" cy="5029200"/>
          </a:xfrm>
          <a:prstGeom prst="ellipse">
            <a:avLst/>
          </a:prstGeom>
          <a:solidFill>
            <a:srgbClr val="1AEB9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 i="0">
                <a:solidFill>
                  <a:srgbClr val="011E23"/>
                </a:solidFill>
                <a:latin typeface="Arial"/>
              </a:defRPr>
            </a:pPr>
            <a:r>
              <a:t>Contenido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91440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1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011E2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9144" cy="411480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645920"/>
            <a:ext cx="6217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11E23"/>
                </a:solidFill>
                <a:latin typeface="Arial"/>
              </a:defRPr>
            </a:pPr>
            <a:r>
              <a:t>01. Introducción General</a:t>
            </a:r>
          </a:p>
          <a:p>
            <a:pPr>
              <a:spcAft>
                <a:spcPts val="300"/>
              </a:spcAft>
              <a:defRPr sz="1200">
                <a:solidFill>
                  <a:srgbClr val="111111"/>
                </a:solidFill>
                <a:latin typeface="Arial"/>
              </a:defRPr>
            </a:pPr>
            <a:r>
              <a:t>    1.  Resultados Detallados de Conversión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11E23"/>
            </a:gs>
            <a:gs pos="100000">
              <a:srgbClr val="1047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7616952" y="1828800"/>
            <a:ext cx="5943600" cy="5943600"/>
          </a:xfrm>
          <a:prstGeom prst="ellipse">
            <a:avLst/>
          </a:prstGeom>
          <a:solidFill>
            <a:srgbClr val="1AEB9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1">
                <a:solidFill>
                  <a:srgbClr val="718096"/>
                </a:solidFill>
                <a:latin typeface="Georgia"/>
              </a:defRPr>
            </a:pPr>
            <a:r>
              <a:t>Straight to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530352"/>
            <a:ext cx="6858000" cy="9144"/>
          </a:xfrm>
          <a:prstGeom prst="rect">
            <a:avLst/>
          </a:prstGeom>
          <a:solidFill>
            <a:srgbClr val="718096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vertia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365760"/>
            <a:ext cx="319535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19456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800" b="1" i="0">
                <a:solidFill>
                  <a:srgbClr val="1AEB9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1036015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t>Introducción General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937760"/>
            <a:ext cx="1371600" cy="9144"/>
          </a:xfrm>
          <a:prstGeom prst="rect">
            <a:avLst/>
          </a:prstGeom>
          <a:solidFill>
            <a:srgbClr val="1AEB9F"/>
          </a:solidFill>
          <a:ln>
            <a:solidFill>
              <a:srgbClr val="1AE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-1828800" y="3200400"/>
            <a:ext cx="5029200" cy="5029200"/>
          </a:xfrm>
          <a:prstGeom prst="ellipse">
            <a:avLst/>
          </a:prstGeom>
          <a:solidFill>
            <a:srgbClr val="1AEB9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 i="0">
                <a:solidFill>
                  <a:srgbClr val="011E23"/>
                </a:solidFill>
                <a:latin typeface="Arial"/>
              </a:defRPr>
            </a:pPr>
            <a:r>
              <a:t>Resultados Detallados de Conversión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A continuación se presentan los datos numéricos tabulados correspondientes a las métricas de conversión y ventas del canal principal durante el Q1.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600" b="1">
                <a:solidFill>
                  <a:srgbClr val="10473F"/>
                </a:solidFill>
                <a:latin typeface="Arial"/>
              </a:defRPr>
            </a:pPr>
            <a:r>
              <a:t>Recomendaciones Estratégicas</a:t>
            </a:r>
          </a:p>
          <a:p>
            <a:pPr>
              <a:spcAft>
                <a:spcPts val="8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Se sugiere mantener el enfoque en la optimización de costes por adquisición y expandir el canal de búsqueda pagada en mercados secundarios.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•  Aumentar presupuesto en Google Ads un 15%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•  Refinar audiencias de remarketing en Meta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•  Desplegar el nuevo chatbot automatizado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0" y="3474720"/>
          <a:ext cx="62453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338"/>
                <a:gridCol w="1561338"/>
                <a:gridCol w="1561338"/>
                <a:gridCol w="1561338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 marL="109728" marR="109728">
                    <a:solidFill>
                      <a:srgbClr val="011E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Enero</a:t>
                      </a:r>
                    </a:p>
                  </a:txBody>
                  <a:tcPr marL="109728" marR="109728">
                    <a:solidFill>
                      <a:srgbClr val="011E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Febrero</a:t>
                      </a:r>
                    </a:p>
                  </a:txBody>
                  <a:tcPr marL="109728" marR="109728">
                    <a:solidFill>
                      <a:srgbClr val="011E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Marzo</a:t>
                      </a:r>
                    </a:p>
                  </a:txBody>
                  <a:tcPr marL="109728" marR="109728">
                    <a:solidFill>
                      <a:srgbClr val="011E2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0" sz="1000">
                          <a:solidFill>
                            <a:srgbClr val="111111"/>
                          </a:solidFill>
                          <a:latin typeface="Arial"/>
                        </a:rPr>
                        <a:t>cells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00">
                          <a:solidFill>
                            <a:srgbClr val="111111"/>
                          </a:solidFill>
                          <a:latin typeface="Arial"/>
                        </a:rPr>
                        <a:t>is_highlight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0" sz="1000">
                          <a:solidFill>
                            <a:srgbClr val="111111"/>
                          </a:solidFill>
                          <a:latin typeface="Arial"/>
                        </a:rPr>
                        <a:t>cells</a:t>
                      </a:r>
                    </a:p>
                  </a:txBody>
                  <a:tcPr marL="109728" marR="10972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00">
                          <a:solidFill>
                            <a:srgbClr val="111111"/>
                          </a:solidFill>
                          <a:latin typeface="Arial"/>
                        </a:rPr>
                        <a:t>is_highlight</a:t>
                      </a:r>
                    </a:p>
                  </a:txBody>
                  <a:tcPr marL="109728" marR="10972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0" sz="1000">
                          <a:solidFill>
                            <a:srgbClr val="111111"/>
                          </a:solidFill>
                          <a:latin typeface="Arial"/>
                        </a:rPr>
                        <a:t>cells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00">
                          <a:solidFill>
                            <a:srgbClr val="111111"/>
                          </a:solidFill>
                          <a:latin typeface="Arial"/>
                        </a:rPr>
                        <a:t>is_highlight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-1828800" y="3200400"/>
            <a:ext cx="5029200" cy="5029200"/>
          </a:xfrm>
          <a:prstGeom prst="ellipse">
            <a:avLst/>
          </a:prstGeom>
          <a:solidFill>
            <a:srgbClr val="1AEB9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 i="0">
                <a:solidFill>
                  <a:srgbClr val="011E23"/>
                </a:solidFill>
                <a:latin typeface="Arial"/>
              </a:defRPr>
            </a:pPr>
            <a:r>
              <a:t>Métricas de rendimiento Q1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1036015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 marL="109728" marR="109728">
                    <a:solidFill>
                      <a:srgbClr val="011E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Enero</a:t>
                      </a:r>
                    </a:p>
                  </a:txBody>
                  <a:tcPr marL="109728" marR="109728">
                    <a:solidFill>
                      <a:srgbClr val="011E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Febrero</a:t>
                      </a:r>
                    </a:p>
                  </a:txBody>
                  <a:tcPr marL="109728" marR="109728">
                    <a:solidFill>
                      <a:srgbClr val="011E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Marzo</a:t>
                      </a:r>
                    </a:p>
                  </a:txBody>
                  <a:tcPr marL="109728" marR="109728">
                    <a:solidFill>
                      <a:srgbClr val="011E23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b="0" sz="1000">
                          <a:solidFill>
                            <a:srgbClr val="111111"/>
                          </a:solidFill>
                          <a:latin typeface="Arial"/>
                        </a:rPr>
                        <a:t>cells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00">
                          <a:solidFill>
                            <a:srgbClr val="111111"/>
                          </a:solidFill>
                          <a:latin typeface="Arial"/>
                        </a:rPr>
                        <a:t>is_highlight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b="0" sz="1000">
                          <a:solidFill>
                            <a:srgbClr val="111111"/>
                          </a:solidFill>
                          <a:latin typeface="Arial"/>
                        </a:rPr>
                        <a:t>cells</a:t>
                      </a:r>
                    </a:p>
                  </a:txBody>
                  <a:tcPr marL="109728" marR="10972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00">
                          <a:solidFill>
                            <a:srgbClr val="111111"/>
                          </a:solidFill>
                          <a:latin typeface="Arial"/>
                        </a:rPr>
                        <a:t>is_highlight</a:t>
                      </a:r>
                    </a:p>
                  </a:txBody>
                  <a:tcPr marL="109728" marR="10972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b="0" sz="1000">
                          <a:solidFill>
                            <a:srgbClr val="111111"/>
                          </a:solidFill>
                          <a:latin typeface="Arial"/>
                        </a:rPr>
                        <a:t>cells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00">
                          <a:solidFill>
                            <a:srgbClr val="111111"/>
                          </a:solidFill>
                          <a:latin typeface="Arial"/>
                        </a:rPr>
                        <a:t>is_highlight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11E23"/>
            </a:gs>
            <a:gs pos="100000">
              <a:srgbClr val="1047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7315200" y="2286000"/>
            <a:ext cx="6858000" cy="6858000"/>
          </a:xfrm>
          <a:prstGeom prst="ellipse">
            <a:avLst/>
          </a:prstGeom>
          <a:solidFill>
            <a:srgbClr val="8F8C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1371600"/>
            <a:ext cx="5943600" cy="5943600"/>
          </a:xfrm>
          <a:prstGeom prst="ellipse">
            <a:avLst/>
          </a:prstGeom>
          <a:solidFill>
            <a:srgbClr val="1AEB9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1">
                <a:solidFill>
                  <a:srgbClr val="718096"/>
                </a:solidFill>
                <a:latin typeface="Georgia"/>
              </a:defRPr>
            </a:pPr>
            <a:r>
              <a:t>Straight to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530352"/>
            <a:ext cx="6858000" cy="9144"/>
          </a:xfrm>
          <a:prstGeom prst="rect">
            <a:avLst/>
          </a:prstGeom>
          <a:solidFill>
            <a:srgbClr val="718096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vertia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365760"/>
            <a:ext cx="319535" cy="320040"/>
          </a:xfrm>
          <a:prstGeom prst="rect">
            <a:avLst/>
          </a:prstGeom>
        </p:spPr>
      </p:pic>
      <p:pic>
        <p:nvPicPr>
          <p:cNvPr id="9" name="Picture 8" descr="convertia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2286000"/>
            <a:ext cx="3657600" cy="366337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14400" y="6035040"/>
            <a:ext cx="10360152" cy="9144"/>
          </a:xfrm>
          <a:prstGeom prst="rect">
            <a:avLst/>
          </a:prstGeom>
          <a:solidFill>
            <a:srgbClr val="718096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1">
                <a:solidFill>
                  <a:srgbClr val="718096"/>
                </a:solidFill>
                <a:latin typeface="Arial"/>
              </a:defRPr>
            </a:pPr>
            <a:r>
              <a:t>Straight to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6217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0" i="0">
                <a:solidFill>
                  <a:srgbClr val="718096"/>
                </a:solidFill>
                <a:latin typeface="Arial"/>
              </a:defRPr>
            </a:pPr>
            <a:r>
              <a:t>www.convertia.com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