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11E23"/>
            </a:gs>
            <a:gs pos="100000">
              <a:srgbClr val="10473F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7315200" y="2286000"/>
            <a:ext cx="6858000" cy="6858000"/>
          </a:xfrm>
          <a:prstGeom prst="ellipse">
            <a:avLst/>
          </a:prstGeom>
          <a:solidFill>
            <a:srgbClr val="8F8C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828800" y="1371600"/>
            <a:ext cx="5943600" cy="5943600"/>
          </a:xfrm>
          <a:prstGeom prst="ellipse">
            <a:avLst/>
          </a:prstGeom>
          <a:solidFill>
            <a:srgbClr val="1AEB9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718096"/>
                </a:solidFill>
                <a:latin typeface="Georgia"/>
              </a:defRPr>
            </a:pPr>
            <a:r>
              <a:t>Straight to Growth</a:t>
            </a:r>
          </a:p>
        </p:txBody>
      </p:sp>
      <p:sp>
        <p:nvSpPr>
          <p:cNvPr id="7" name="Rectangle 6"/>
          <p:cNvSpPr/>
          <p:nvPr/>
        </p:nvSpPr>
        <p:spPr>
          <a:xfrm>
            <a:off x="2468880" y="530352"/>
            <a:ext cx="4114800" cy="9144"/>
          </a:xfrm>
          <a:prstGeom prst="rect">
            <a:avLst/>
          </a:prstGeom>
          <a:solidFill>
            <a:srgbClr val="718096"/>
          </a:solidFill>
          <a:ln>
            <a:solidFill>
              <a:srgbClr val="718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onvertia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5752" y="365760"/>
            <a:ext cx="1499937" cy="320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2377440"/>
            <a:ext cx="10360152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4600" b="1">
                <a:solidFill>
                  <a:srgbClr val="FFFFFF"/>
                </a:solidFill>
                <a:latin typeface="Arial"/>
              </a:defRPr>
            </a:pPr>
            <a:r>
              <a:t>Reporte Trimestral</a:t>
            </a:r>
          </a:p>
          <a:p>
            <a:pPr>
              <a:defRPr sz="4600" b="1">
                <a:solidFill>
                  <a:srgbClr val="BAB8FF"/>
                </a:solidFill>
                <a:latin typeface="Arial"/>
              </a:defRPr>
            </a:pPr>
            <a:r>
              <a:t>de Convertia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669280"/>
            <a:ext cx="10360152" cy="9144"/>
          </a:xfrm>
          <a:prstGeom prst="rect">
            <a:avLst/>
          </a:prstGeom>
          <a:solidFill>
            <a:srgbClr val="718096"/>
          </a:solidFill>
          <a:ln>
            <a:solidFill>
              <a:srgbClr val="718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85216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718096"/>
                </a:solidFill>
                <a:latin typeface="Arial"/>
              </a:defRPr>
            </a:pPr>
            <a:r>
              <a:t>Fecha: 03 / 06 / 2026   |   Autor: Olivia AI — Analista Principal   |   Clasificación: Confidencial Corporativo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11E23"/>
            </a:gs>
            <a:gs pos="100000">
              <a:srgbClr val="10473F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7616952" y="1828800"/>
            <a:ext cx="5943600" cy="5943600"/>
          </a:xfrm>
          <a:prstGeom prst="ellipse">
            <a:avLst/>
          </a:prstGeom>
          <a:solidFill>
            <a:srgbClr val="1AEB9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718096"/>
                </a:solidFill>
                <a:latin typeface="Georgia"/>
              </a:defRPr>
            </a:pPr>
            <a:r>
              <a:t>Straight to Growth</a:t>
            </a:r>
          </a:p>
        </p:txBody>
      </p:sp>
      <p:sp>
        <p:nvSpPr>
          <p:cNvPr id="6" name="Rectangle 5"/>
          <p:cNvSpPr/>
          <p:nvPr/>
        </p:nvSpPr>
        <p:spPr>
          <a:xfrm>
            <a:off x="2468880" y="530352"/>
            <a:ext cx="4114800" cy="9144"/>
          </a:xfrm>
          <a:prstGeom prst="rect">
            <a:avLst/>
          </a:prstGeom>
          <a:solidFill>
            <a:srgbClr val="718096"/>
          </a:solidFill>
          <a:ln>
            <a:solidFill>
              <a:srgbClr val="718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nvertia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5752" y="365760"/>
            <a:ext cx="1499937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2194560"/>
            <a:ext cx="1036015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6800" b="1">
                <a:solidFill>
                  <a:srgbClr val="1AEB9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91840"/>
            <a:ext cx="10360152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Introducción General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937760"/>
            <a:ext cx="1371600" cy="9144"/>
          </a:xfrm>
          <a:prstGeom prst="rect">
            <a:avLst/>
          </a:prstGeom>
          <a:solidFill>
            <a:srgbClr val="1AEB9F"/>
          </a:solidFill>
          <a:ln>
            <a:solidFill>
              <a:srgbClr val="1AEB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-1828800" y="3200400"/>
            <a:ext cx="5029200" cy="5029200"/>
          </a:xfrm>
          <a:prstGeom prst="ellipse">
            <a:avLst/>
          </a:prstGeom>
          <a:solidFill>
            <a:srgbClr val="1AEB9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718096"/>
                </a:solidFill>
                <a:latin typeface="Georgia"/>
              </a:defRPr>
            </a:pPr>
            <a:r>
              <a:t>Straight to Growth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822960"/>
            <a:ext cx="10360152" cy="9144"/>
          </a:xfrm>
          <a:prstGeom prst="rect">
            <a:avLst/>
          </a:prstGeom>
          <a:solidFill>
            <a:srgbClr val="D9D9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nvertia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5752" y="365760"/>
            <a:ext cx="32004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164592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400" b="1">
                <a:solidFill>
                  <a:srgbClr val="011E23"/>
                </a:solidFill>
                <a:latin typeface="Arial"/>
              </a:defRPr>
            </a:pPr>
            <a:r>
              <a:t>Resultados Detallados de Conversión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645920"/>
            <a:ext cx="6245352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400">
                <a:solidFill>
                  <a:srgbClr val="111111"/>
                </a:solidFill>
                <a:latin typeface="Arial"/>
              </a:defRPr>
            </a:pPr>
            <a:r>
              <a:t>A continuación se presentan los datos numéricos tabulados correspondientes a las métricas de conversión y ventas del canal principal durante el Q1.</a:t>
            </a:r>
          </a:p>
          <a:p>
            <a:pPr>
              <a:spcBef>
                <a:spcPts val="1400"/>
              </a:spcBef>
              <a:spcAft>
                <a:spcPts val="600"/>
              </a:spcAft>
              <a:defRPr sz="1600" b="1">
                <a:solidFill>
                  <a:srgbClr val="10473F"/>
                </a:solidFill>
                <a:latin typeface="Arial"/>
              </a:defRPr>
            </a:pPr>
            <a:r>
              <a:t>Recomendaciones Estratégicas</a:t>
            </a:r>
          </a:p>
          <a:p>
            <a:pPr>
              <a:spcAft>
                <a:spcPts val="800"/>
              </a:spcAft>
              <a:defRPr sz="1400">
                <a:solidFill>
                  <a:srgbClr val="111111"/>
                </a:solidFill>
                <a:latin typeface="Arial"/>
              </a:defRPr>
            </a:pPr>
            <a:r>
              <a:t>Se sugiere mantener el enfoque en la optimización de costes por adquisición y expandir el canal de búsqueda pagada en mercados secundarios.</a:t>
            </a:r>
          </a:p>
          <a:p>
            <a:pPr>
              <a:spcAft>
                <a:spcPts val="600"/>
              </a:spcAft>
              <a:defRPr sz="1400">
                <a:solidFill>
                  <a:srgbClr val="111111"/>
                </a:solidFill>
                <a:latin typeface="Arial"/>
              </a:defRPr>
            </a:pPr>
            <a:r>
              <a:t>•  Aumentar presupuesto en Google Ads un 15%</a:t>
            </a:r>
          </a:p>
          <a:p>
            <a:pPr>
              <a:spcAft>
                <a:spcPts val="600"/>
              </a:spcAft>
              <a:defRPr sz="1400">
                <a:solidFill>
                  <a:srgbClr val="111111"/>
                </a:solidFill>
                <a:latin typeface="Arial"/>
              </a:defRPr>
            </a:pPr>
            <a:r>
              <a:t>•  Refinar audiencias de remarketing en Meta</a:t>
            </a:r>
          </a:p>
          <a:p>
            <a:pPr>
              <a:spcAft>
                <a:spcPts val="600"/>
              </a:spcAft>
              <a:defRPr sz="1400">
                <a:solidFill>
                  <a:srgbClr val="111111"/>
                </a:solidFill>
                <a:latin typeface="Arial"/>
              </a:defRPr>
            </a:pPr>
            <a:r>
              <a:t>•  Desplegar el nuevo chatbot automatizado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0" y="3474720"/>
          <a:ext cx="624535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1338"/>
                <a:gridCol w="1561338"/>
                <a:gridCol w="1561338"/>
                <a:gridCol w="1561338"/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Arial"/>
                        </a:rPr>
                        <a:t>Métrica</a:t>
                      </a:r>
                    </a:p>
                  </a:txBody>
                  <a:tcPr marL="109728" marR="109728">
                    <a:solidFill>
                      <a:srgbClr val="011E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Arial"/>
                        </a:rPr>
                        <a:t>Enero</a:t>
                      </a:r>
                    </a:p>
                  </a:txBody>
                  <a:tcPr marL="109728" marR="109728">
                    <a:solidFill>
                      <a:srgbClr val="011E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Arial"/>
                        </a:rPr>
                        <a:t>Febrero</a:t>
                      </a:r>
                    </a:p>
                  </a:txBody>
                  <a:tcPr marL="109728" marR="109728">
                    <a:solidFill>
                      <a:srgbClr val="011E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Arial"/>
                        </a:rPr>
                        <a:t>Marzo</a:t>
                      </a:r>
                    </a:p>
                  </a:txBody>
                  <a:tcPr marL="109728" marR="109728">
                    <a:solidFill>
                      <a:srgbClr val="011E23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Clientes Nuevos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Tasa de Conversión</a:t>
                      </a:r>
                    </a:p>
                  </a:txBody>
                  <a:tcPr marL="109728" marR="10972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2.4%</a:t>
                      </a:r>
                    </a:p>
                  </a:txBody>
                  <a:tcPr marL="109728" marR="10972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2.7%</a:t>
                      </a:r>
                    </a:p>
                  </a:txBody>
                  <a:tcPr marL="109728" marR="10972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3.1%</a:t>
                      </a:r>
                    </a:p>
                  </a:txBody>
                  <a:tcPr marL="109728" marR="109728"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Ingresos (USD)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15000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18500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22000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914400" y="6217920"/>
            <a:ext cx="10360152" cy="9144"/>
          </a:xfrm>
          <a:prstGeom prst="rect">
            <a:avLst/>
          </a:prstGeom>
          <a:solidFill>
            <a:srgbClr val="D9D9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63093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50" b="0">
                <a:solidFill>
                  <a:srgbClr val="718096"/>
                </a:solidFill>
                <a:latin typeface="Arial"/>
              </a:defRPr>
            </a:pPr>
            <a:r>
              <a:t>© Intelligence Customer Acquisition — Convertia — Documentación interna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5752" y="63093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0">
                <a:solidFill>
                  <a:srgbClr val="718096"/>
                </a:solidFill>
                <a:latin typeface="Arial"/>
              </a:defRPr>
            </a:pPr>
            <a:r>
              <a:t>Pág.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-1828800" y="3200400"/>
            <a:ext cx="5029200" cy="5029200"/>
          </a:xfrm>
          <a:prstGeom prst="ellipse">
            <a:avLst/>
          </a:prstGeom>
          <a:solidFill>
            <a:srgbClr val="1AEB9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00" b="0">
                <a:solidFill>
                  <a:srgbClr val="718096"/>
                </a:solidFill>
                <a:latin typeface="Georgia"/>
              </a:defRPr>
            </a:pPr>
            <a:r>
              <a:t>Straight to Growth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822960"/>
            <a:ext cx="10360152" cy="9144"/>
          </a:xfrm>
          <a:prstGeom prst="rect">
            <a:avLst/>
          </a:prstGeom>
          <a:solidFill>
            <a:srgbClr val="D9D9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nvertia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5752" y="365760"/>
            <a:ext cx="320040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109728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600" b="1">
                <a:solidFill>
                  <a:srgbClr val="011E23"/>
                </a:solidFill>
                <a:latin typeface="Arial"/>
              </a:defRPr>
            </a:pPr>
            <a:r>
              <a:t>Métricas de rendimiento Q1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2011680"/>
          <a:ext cx="10360152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038"/>
                <a:gridCol w="2590038"/>
                <a:gridCol w="2590038"/>
                <a:gridCol w="2590038"/>
              </a:tblGrid>
              <a:tr h="960120"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Arial"/>
                        </a:rPr>
                        <a:t>Métrica</a:t>
                      </a:r>
                    </a:p>
                  </a:txBody>
                  <a:tcPr marL="109728" marR="109728">
                    <a:solidFill>
                      <a:srgbClr val="011E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Arial"/>
                        </a:rPr>
                        <a:t>Enero</a:t>
                      </a:r>
                    </a:p>
                  </a:txBody>
                  <a:tcPr marL="109728" marR="109728">
                    <a:solidFill>
                      <a:srgbClr val="011E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Arial"/>
                        </a:rPr>
                        <a:t>Febrero</a:t>
                      </a:r>
                    </a:p>
                  </a:txBody>
                  <a:tcPr marL="109728" marR="109728">
                    <a:solidFill>
                      <a:srgbClr val="011E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Arial"/>
                        </a:rPr>
                        <a:t>Marzo</a:t>
                      </a:r>
                    </a:p>
                  </a:txBody>
                  <a:tcPr marL="109728" marR="109728">
                    <a:solidFill>
                      <a:srgbClr val="011E23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Clientes Nuevos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Tasa de Conversión</a:t>
                      </a:r>
                    </a:p>
                  </a:txBody>
                  <a:tcPr marL="109728" marR="10972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2.4%</a:t>
                      </a:r>
                    </a:p>
                  </a:txBody>
                  <a:tcPr marL="109728" marR="10972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2.7%</a:t>
                      </a:r>
                    </a:p>
                  </a:txBody>
                  <a:tcPr marL="109728" marR="10972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3.1%</a:t>
                      </a:r>
                    </a:p>
                  </a:txBody>
                  <a:tcPr marL="109728" marR="109728">
                    <a:solidFill>
                      <a:srgbClr val="F5F5F5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Ingresos (USD)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15000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18500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22000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914400" y="6217920"/>
            <a:ext cx="10360152" cy="9144"/>
          </a:xfrm>
          <a:prstGeom prst="rect">
            <a:avLst/>
          </a:prstGeom>
          <a:solidFill>
            <a:srgbClr val="D9D9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3093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850" b="0">
                <a:solidFill>
                  <a:srgbClr val="718096"/>
                </a:solidFill>
                <a:latin typeface="Arial"/>
              </a:defRPr>
            </a:pPr>
            <a:r>
              <a:t>© Intelligence Customer Acquisition — Convertia — Documentación interna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45752" y="63093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0">
                <a:solidFill>
                  <a:srgbClr val="718096"/>
                </a:solidFill>
                <a:latin typeface="Arial"/>
              </a:defRPr>
            </a:pPr>
            <a:r>
              <a:t>Pág.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11E23"/>
            </a:gs>
            <a:gs pos="100000">
              <a:srgbClr val="10473F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7315200" y="2286000"/>
            <a:ext cx="6858000" cy="6858000"/>
          </a:xfrm>
          <a:prstGeom prst="ellipse">
            <a:avLst/>
          </a:prstGeom>
          <a:solidFill>
            <a:srgbClr val="8F8C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828800" y="1371600"/>
            <a:ext cx="5943600" cy="5943600"/>
          </a:xfrm>
          <a:prstGeom prst="ellipse">
            <a:avLst/>
          </a:prstGeom>
          <a:solidFill>
            <a:srgbClr val="1AEB9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>
                <a:solidFill>
                  <a:srgbClr val="718096"/>
                </a:solidFill>
                <a:latin typeface="Georgia"/>
              </a:defRPr>
            </a:pPr>
            <a:r>
              <a:t>Straight to Growth</a:t>
            </a:r>
          </a:p>
        </p:txBody>
      </p:sp>
      <p:sp>
        <p:nvSpPr>
          <p:cNvPr id="7" name="Rectangle 6"/>
          <p:cNvSpPr/>
          <p:nvPr/>
        </p:nvSpPr>
        <p:spPr>
          <a:xfrm>
            <a:off x="2468880" y="530352"/>
            <a:ext cx="4114800" cy="9144"/>
          </a:xfrm>
          <a:prstGeom prst="rect">
            <a:avLst/>
          </a:prstGeom>
          <a:solidFill>
            <a:srgbClr val="718096"/>
          </a:solidFill>
          <a:ln>
            <a:solidFill>
              <a:srgbClr val="718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onvertia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5752" y="365760"/>
            <a:ext cx="1499937" cy="320040"/>
          </a:xfrm>
          <a:prstGeom prst="rect">
            <a:avLst/>
          </a:prstGeom>
        </p:spPr>
      </p:pic>
      <p:pic>
        <p:nvPicPr>
          <p:cNvPr id="9" name="Picture 8" descr="convertia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1104" y="2011680"/>
            <a:ext cx="3657600" cy="78041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3474720"/>
            <a:ext cx="103601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Arial"/>
              </a:defRPr>
            </a:pPr>
            <a:r>
              <a:t>Muchas gracias.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400" b="0">
                <a:solidFill>
                  <a:srgbClr val="1AEB9F"/>
                </a:solidFill>
                <a:latin typeface="Arial"/>
              </a:defRPr>
            </a:pPr>
            <a:r>
              <a:t>Intelligence Customer Acquisition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